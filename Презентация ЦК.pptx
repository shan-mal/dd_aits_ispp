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Instrument Sans Bold" panose="020B0604020202020204" charset="0"/>
      <p:regular r:id="rId18"/>
    </p:embeddedFont>
    <p:embeddedFont>
      <p:font typeface="Instrument Sans Medium" panose="020B0604020202020204" charset="0"/>
      <p:regular r:id="rId19"/>
    </p:embeddedFont>
    <p:embeddedFont>
      <p:font typeface="Instrument Sans Semi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04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48804"/>
            <a:ext cx="4722763" cy="218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Разработка и исследование автоматизированной системы управления парковочным пространством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25119" y="2935188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 основе технологий компьютерного зрения и распределённых вычислений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25119" y="3567410"/>
            <a:ext cx="4722763" cy="19050"/>
          </a:xfrm>
          <a:prstGeom prst="roundRect">
            <a:avLst>
              <a:gd name="adj" fmla="val 60000"/>
            </a:avLst>
          </a:prstGeom>
          <a:solidFill>
            <a:srgbClr val="1E3063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925119" y="3775770"/>
            <a:ext cx="4722763" cy="818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Автор: </a:t>
            </a:r>
            <a:r>
              <a:rPr lang="ru-RU" sz="10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Боровикова Кристина</a:t>
            </a: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· </a:t>
            </a:r>
            <a:r>
              <a:rPr lang="en-US" sz="105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Руководитель</a:t>
            </a: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</a:t>
            </a:r>
            <a:endParaRPr lang="en-US" sz="10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Московский авиационный институт · Москва, 202</a:t>
            </a:r>
            <a:r>
              <a:rPr lang="ru-RU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</a:t>
            </a:r>
            <a:endParaRPr lang="en-US" sz="1050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EFACDB6-19E0-3A47-C7A1-9CF1788E68B0}"/>
              </a:ext>
            </a:extLst>
          </p:cNvPr>
          <p:cNvSpPr/>
          <p:nvPr/>
        </p:nvSpPr>
        <p:spPr>
          <a:xfrm>
            <a:off x="8046720" y="4833257"/>
            <a:ext cx="1031966" cy="29119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3072"/>
            <a:ext cx="4531444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Актуальность проблемы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25119" y="1041722"/>
            <a:ext cx="2294855" cy="1434182"/>
          </a:xfrm>
          <a:prstGeom prst="roundRect">
            <a:avLst>
              <a:gd name="adj" fmla="val 8618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4062413" y="1179016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До 30% трафика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2413" y="1473324"/>
            <a:ext cx="202026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Транспортного потока в городах приходится на поиск парковочного места — это потери времени и топлива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52952" y="1041722"/>
            <a:ext cx="2294930" cy="1434182"/>
          </a:xfrm>
          <a:prstGeom prst="roundRect">
            <a:avLst>
              <a:gd name="adj" fmla="val 8618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6490246" y="1179016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Рост автопарка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0246" y="1473324"/>
            <a:ext cx="2020342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Число автомобилей ежегодно увеличивается, создавая давление на городскую инфраструктуру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25119" y="2608883"/>
            <a:ext cx="4722763" cy="1001539"/>
          </a:xfrm>
          <a:prstGeom prst="roundRect">
            <a:avLst>
              <a:gd name="adj" fmla="val 12341"/>
            </a:avLst>
          </a:prstGeom>
          <a:solidFill>
            <a:srgbClr val="CEE6FD"/>
          </a:solidFill>
          <a:ln/>
        </p:spPr>
      </p:sp>
      <p:sp>
        <p:nvSpPr>
          <p:cNvPr id="11" name="Text 8"/>
          <p:cNvSpPr/>
          <p:nvPr/>
        </p:nvSpPr>
        <p:spPr>
          <a:xfrm>
            <a:off x="4062413" y="2746177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Пробелы рынка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2413" y="3040484"/>
            <a:ext cx="444817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Существующие решения — дорогие, закрытые и трудно масштабируемые для небольших городов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25119" y="3760068"/>
            <a:ext cx="4722763" cy="970285"/>
          </a:xfrm>
          <a:prstGeom prst="roundRect">
            <a:avLst>
              <a:gd name="adj" fmla="val 12739"/>
            </a:avLst>
          </a:prstGeom>
          <a:solidFill>
            <a:srgbClr val="CEE6FD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413" y="3954363"/>
            <a:ext cx="171599" cy="1372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71305" y="3927351"/>
            <a:ext cx="4139282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Цель:</a:t>
            </a:r>
            <a:r>
              <a:rPr lang="en-US" sz="1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разработать доступную, масштабируемую и открытую систему управления парковкой на основе компьютерного зрения.</a:t>
            </a:r>
            <a:endParaRPr lang="en-US" sz="1050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38BCF3CF-C444-4754-59F9-A16EAEBB4A87}"/>
              </a:ext>
            </a:extLst>
          </p:cNvPr>
          <p:cNvSpPr/>
          <p:nvPr/>
        </p:nvSpPr>
        <p:spPr>
          <a:xfrm>
            <a:off x="8046720" y="4839788"/>
            <a:ext cx="1031966" cy="29119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305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Задачи проекта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4956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Проект охватывает полный цикл разработки — от анализа предметной области до тестирования готовой системы.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63584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1857747"/>
            <a:ext cx="2622724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966689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Анализ существующих решений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494657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Исследование коммерческих и открытых аналогов, выявление ограничений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0601" y="163584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1857747"/>
            <a:ext cx="2622724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0" name="Text 8"/>
          <p:cNvSpPr/>
          <p:nvPr/>
        </p:nvSpPr>
        <p:spPr>
          <a:xfrm>
            <a:off x="3260601" y="1966689"/>
            <a:ext cx="211953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Разработка архитектуры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60601" y="2273201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Проектирование микросервисной системы с чётким разделением ответственности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25083" y="163584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083" y="1857747"/>
            <a:ext cx="2622724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25083" y="1966689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Модуль распознавания номерных знаков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25083" y="2494657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Детекция, предобработка и распознавание с валидацией результатов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342312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645024"/>
            <a:ext cx="4004965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753966"/>
            <a:ext cx="25681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Модуль управления сессиями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6119" y="406047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Учёт времени пребывания, тарификация и контроль доступа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2842" y="342312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42842" y="3645024"/>
            <a:ext cx="4004965" cy="1905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22" name="Text 20"/>
          <p:cNvSpPr/>
          <p:nvPr/>
        </p:nvSpPr>
        <p:spPr>
          <a:xfrm>
            <a:off x="4642842" y="3753966"/>
            <a:ext cx="34714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Асинхронная обработка и тестирование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42842" y="406047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Celery + Redis, модель данных, нагрузочное тестирование API</a:t>
            </a:r>
            <a:endParaRPr lang="en-US" sz="1100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127FE1E9-54DB-04A2-7FAA-70720FC2CB82}"/>
              </a:ext>
            </a:extLst>
          </p:cNvPr>
          <p:cNvSpPr/>
          <p:nvPr/>
        </p:nvSpPr>
        <p:spPr>
          <a:xfrm>
            <a:off x="8046720" y="4833257"/>
            <a:ext cx="1031966" cy="29119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2359298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Архитектура системы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920121"/>
            <a:ext cx="1499592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Ключевые компоненты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665911" y="1574921"/>
            <a:ext cx="3986733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FastAPI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высокопроизводительный API-шлюз, управляющий всеми запросами</a:t>
            </a:r>
            <a:endParaRPr lang="en-US" sz="14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LicensePlateRecognizer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модуль компьютерного зрения для распознавания номеров</a:t>
            </a:r>
            <a:endParaRPr lang="en-US" sz="14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ParkingSession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сервис управления сессиями парковки и тарификацией</a:t>
            </a:r>
            <a:endParaRPr lang="en-US" sz="14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Celery + Redis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распределённая очередь задач и брокер сообщений</a:t>
            </a:r>
            <a:endParaRPr lang="en-US" sz="14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PostgreSQL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надёжное хранилище данных сессий и событий</a:t>
            </a:r>
            <a:endParaRPr lang="en-US" sz="1400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53BA374-9058-D02A-C9AD-77A299B8B285}"/>
              </a:ext>
            </a:extLst>
          </p:cNvPr>
          <p:cNvSpPr/>
          <p:nvPr/>
        </p:nvSpPr>
        <p:spPr>
          <a:xfrm>
            <a:off x="8046720" y="4833257"/>
            <a:ext cx="1031966" cy="29119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022"/>
            <a:ext cx="6508775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Модуль распознавания номерных знаков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969615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211756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Валидация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097123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Постобработка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097123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Распознавание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097123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Предобработка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211756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Детекция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044032"/>
            <a:ext cx="8151763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Конвейер обработки включает пять последовательных этапов. Детекция осуществляется с помощью каскадов Хаара, что обеспечивает быстрый поиск области номера на изображении. Предобработка с применением CLAHE и бинаризации повышает контрастность и улучшает читаемость символов. EasyOCR выполняет распознавание текста, после чего постобработка исправляет типичные ошибки OCR, а валидация проверяет соответствие формату государственных номерных знаков.</a:t>
            </a:r>
            <a:endParaRPr lang="en-US" sz="900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47C5BD9-94FD-4EFE-1225-8340FBE84534}"/>
              </a:ext>
            </a:extLst>
          </p:cNvPr>
          <p:cNvSpPr/>
          <p:nvPr/>
        </p:nvSpPr>
        <p:spPr>
          <a:xfrm>
            <a:off x="8046720" y="4833257"/>
            <a:ext cx="1031966" cy="29119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743"/>
            <a:ext cx="43478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Результаты распознавания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19696"/>
            <a:ext cx="3932709" cy="2830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9935" y="1007566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Средние показатели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19935" y="1288182"/>
            <a:ext cx="3932709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Система демонстрирует устойчивую работу даже в сложных погодных условиях — снижение точности при дожде и снеге составляет не более 8–9 процентных пунктов относительно оптимальных условий.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96119" y="4069110"/>
            <a:ext cx="4027289" cy="676647"/>
          </a:xfrm>
          <a:prstGeom prst="roundRect">
            <a:avLst>
              <a:gd name="adj" fmla="val 15615"/>
            </a:avLst>
          </a:prstGeom>
          <a:solidFill>
            <a:srgbClr val="FFFFFF"/>
          </a:solidFill>
          <a:ln w="14288">
            <a:solidFill>
              <a:srgbClr val="B4CC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7757" y="420074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88,0%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7757" y="4442445"/>
            <a:ext cx="376401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Средняя точность детекции по всем условиям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20592" y="4069110"/>
            <a:ext cx="4027289" cy="676647"/>
          </a:xfrm>
          <a:prstGeom prst="roundRect">
            <a:avLst>
              <a:gd name="adj" fmla="val 15615"/>
            </a:avLst>
          </a:prstGeom>
          <a:solidFill>
            <a:srgbClr val="FFFFFF"/>
          </a:solidFill>
          <a:ln w="14288">
            <a:solidFill>
              <a:srgbClr val="B4CC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2231" y="420074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92,7%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52231" y="4442445"/>
            <a:ext cx="376401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Средняя точность распознавания по всем условиям</a:t>
            </a:r>
            <a:endParaRPr lang="en-US" sz="900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844558E-A54F-1A8E-176A-EA6D28FD8737}"/>
              </a:ext>
            </a:extLst>
          </p:cNvPr>
          <p:cNvSpPr/>
          <p:nvPr/>
        </p:nvSpPr>
        <p:spPr>
          <a:xfrm>
            <a:off x="8046720" y="4833257"/>
            <a:ext cx="1031966" cy="29119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3912617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Асинхронная обработка задач (Celery)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1150" y="784707"/>
            <a:ext cx="1490439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Периодические задачи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0679" y="1470343"/>
            <a:ext cx="109612" cy="1096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03366" y="1385676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Каждую минуту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903440" y="1631168"/>
            <a:ext cx="2673017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Проверка истекающих парковочных </a:t>
            </a:r>
            <a:r>
              <a:rPr lang="en-US" sz="10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сессий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и</a:t>
            </a:r>
            <a:endParaRPr lang="ru-RU" sz="10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l">
              <a:lnSpc>
                <a:spcPct val="101000"/>
              </a:lnSpc>
              <a:buNone/>
            </a:pPr>
            <a:r>
              <a:rPr lang="en-US" sz="10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формирование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уведомлений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7853" y="2059993"/>
            <a:ext cx="109612" cy="1096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03366" y="1986645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Ежедневно в 2:00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898677" y="2222150"/>
            <a:ext cx="37492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Генерация суточных отчётов по использованию парковки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4311" y="2481632"/>
            <a:ext cx="109612" cy="1096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898677" y="2424519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Каждые 5 минут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903440" y="2668839"/>
            <a:ext cx="37492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Синхронизация данных с датчиками и обновление состояния мест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4665911" y="3106713"/>
            <a:ext cx="3986733" cy="536886"/>
          </a:xfrm>
          <a:prstGeom prst="roundRect">
            <a:avLst>
              <a:gd name="adj" fmla="val 23389"/>
            </a:avLst>
          </a:prstGeom>
          <a:solidFill>
            <a:srgbClr val="B6D6FC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985" y="3200698"/>
            <a:ext cx="91306" cy="730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03366" y="3158803"/>
            <a:ext cx="3676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Четыре изолированные очереди обеспечивают приоритизацию и отказоустойчивость: </a:t>
            </a:r>
            <a:r>
              <a:rPr lang="en-US" sz="100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default, reports, notifications, recognition</a:t>
            </a:r>
            <a:endParaRPr lang="en-US" sz="1000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1750F5E8-138F-CE74-5F0C-F44EC659010C}"/>
              </a:ext>
            </a:extLst>
          </p:cNvPr>
          <p:cNvSpPr/>
          <p:nvPr/>
        </p:nvSpPr>
        <p:spPr>
          <a:xfrm>
            <a:off x="8046720" y="4833257"/>
            <a:ext cx="1031966" cy="29119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743"/>
            <a:ext cx="4055120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Производительность API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19696"/>
            <a:ext cx="3932709" cy="2830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9935" y="1007566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Анализ результатов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19935" y="1288182"/>
            <a:ext cx="3932709" cy="3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Время отклика endpoints </a:t>
            </a:r>
            <a:r>
              <a:rPr lang="en-US" sz="9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/parking/start</a:t>
            </a: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и </a:t>
            </a:r>
            <a:r>
              <a:rPr lang="en-US" sz="9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/parking/end</a:t>
            </a: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масштабируется предсказуемо при росте нагрузки.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4069110"/>
            <a:ext cx="4027289" cy="6766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4907" y="420074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10 пользователей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84907" y="4442445"/>
            <a:ext cx="37068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85–92 мс — оптимальная скорость для реального времени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0592" y="4069110"/>
            <a:ext cx="4027289" cy="6766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09381" y="420074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500 пользователей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809381" y="4442445"/>
            <a:ext cx="37068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580–620 мс — приемлемая задержка при пиковой нагрузке</a:t>
            </a:r>
            <a:endParaRPr lang="en-US" sz="900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E20F0B7-17C9-083D-B3EA-523FBBBBA0F3}"/>
              </a:ext>
            </a:extLst>
          </p:cNvPr>
          <p:cNvSpPr/>
          <p:nvPr/>
        </p:nvSpPr>
        <p:spPr>
          <a:xfrm>
            <a:off x="8046720" y="4833257"/>
            <a:ext cx="1031966" cy="29119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5821"/>
            <a:ext cx="454476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Сравнение с аналогами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22325"/>
            <a:ext cx="8151763" cy="2472035"/>
          </a:xfrm>
          <a:prstGeom prst="roundRect">
            <a:avLst>
              <a:gd name="adj" fmla="val 516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714" y="1316906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Критерий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85356" y="1316906"/>
            <a:ext cx="3023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Разработанная система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35117" y="1316906"/>
            <a:ext cx="3023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Коммерческие решения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2714" y="1728118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Стоимость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85356" y="1728118"/>
            <a:ext cx="3023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131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Низкая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35117" y="1728118"/>
            <a:ext cx="3023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Высокая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2714" y="2139330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Открытый код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85356" y="2139330"/>
            <a:ext cx="3023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131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Да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35117" y="2139330"/>
            <a:ext cx="3023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14" y="2550542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Масштабируемость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85356" y="2550542"/>
            <a:ext cx="3023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131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Высокая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35117" y="2550542"/>
            <a:ext cx="3023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Средняя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714" y="2961754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Точность распознавания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85356" y="2961754"/>
            <a:ext cx="3023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88–93%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35117" y="2961754"/>
            <a:ext cx="3023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95–99%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714" y="3372966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Сложность внедрения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85356" y="3372966"/>
            <a:ext cx="3023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131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Низкая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35117" y="3372966"/>
            <a:ext cx="3023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Высокая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6119" y="3853830"/>
            <a:ext cx="8151763" cy="793775"/>
          </a:xfrm>
          <a:prstGeom prst="roundRect">
            <a:avLst>
              <a:gd name="adj" fmla="val 16074"/>
            </a:avLst>
          </a:prstGeom>
          <a:solidFill>
            <a:srgbClr val="CEE6FD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4054599"/>
            <a:ext cx="177180" cy="14175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56816" y="4031010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Разработанная система уступает коммерческим аналогам в точности на 2–7%, но превосходит их по доступности, открытости и простоте масштабирования.</a:t>
            </a:r>
            <a:endParaRPr lang="en-US" sz="1100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86C77908-F4D6-7286-BFE2-2FF6CB8BEF64}"/>
              </a:ext>
            </a:extLst>
          </p:cNvPr>
          <p:cNvSpPr/>
          <p:nvPr/>
        </p:nvSpPr>
        <p:spPr>
          <a:xfrm>
            <a:off x="8046720" y="4833257"/>
            <a:ext cx="1031966" cy="29119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988"/>
            <a:ext cx="5090145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Заключение и перспективы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97222" y="1055638"/>
            <a:ext cx="4106168" cy="3660874"/>
          </a:xfrm>
          <a:prstGeom prst="roundRect">
            <a:avLst>
              <a:gd name="adj" fmla="val 5402"/>
            </a:avLst>
          </a:prstGeom>
          <a:solidFill>
            <a:srgbClr val="C91313"/>
          </a:solidFill>
          <a:ln/>
        </p:spPr>
      </p:sp>
      <p:sp>
        <p:nvSpPr>
          <p:cNvPr id="4" name="Text 2"/>
          <p:cNvSpPr/>
          <p:nvPr/>
        </p:nvSpPr>
        <p:spPr>
          <a:xfrm>
            <a:off x="534516" y="1188616"/>
            <a:ext cx="25188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Достигнутые результаты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4516" y="1536129"/>
            <a:ext cx="3831580" cy="143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Разработана микросервисная архитектура на FastAPI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Реализован модуль распознавания с точностью </a:t>
            </a:r>
            <a:r>
              <a:rPr lang="en-US" sz="105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92,7%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Создана система асинхронной обработки на Celery + Redis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Проведено нагрузочное тестирование API (до 500 пользователей)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4269" y="1188616"/>
            <a:ext cx="238623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Перспективы развития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4269" y="1552798"/>
            <a:ext cx="274662" cy="2746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85172" y="1599977"/>
            <a:ext cx="182671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Повышение точности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185172" y="1947490"/>
            <a:ext cx="346747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Переход на YOLO для детекции и PaddleOCR для распознавания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4269" y="2646164"/>
            <a:ext cx="274662" cy="2746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85172" y="2693343"/>
            <a:ext cx="206789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Мобильное приложение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185172" y="3040856"/>
            <a:ext cx="346747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Интерфейс для водителей: поиск мест, оплата, уведомления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4269" y="3739530"/>
            <a:ext cx="274662" cy="2746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85172" y="3786708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Умный город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185172" y="4134222"/>
            <a:ext cx="346747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Интеграция с городскими транспортными системами и IoT-инфраструктурой</a:t>
            </a:r>
            <a:endParaRPr lang="en-US" sz="1050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DF78AC4-50A0-23B7-5C76-4D563EA42F79}"/>
              </a:ext>
            </a:extLst>
          </p:cNvPr>
          <p:cNvSpPr/>
          <p:nvPr/>
        </p:nvSpPr>
        <p:spPr>
          <a:xfrm>
            <a:off x="8046720" y="4833257"/>
            <a:ext cx="1031966" cy="29119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6359" y="1873523"/>
            <a:ext cx="8111282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Спасибо за внимание!</a:t>
            </a:r>
            <a:endParaRPr lang="en-US" sz="5550" dirty="0"/>
          </a:p>
        </p:txBody>
      </p:sp>
      <p:sp>
        <p:nvSpPr>
          <p:cNvPr id="3" name="Text 1"/>
          <p:cNvSpPr/>
          <p:nvPr/>
        </p:nvSpPr>
        <p:spPr>
          <a:xfrm>
            <a:off x="267519" y="304308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Готовы ответить на ваши вопросы.</a:t>
            </a:r>
            <a:endParaRPr lang="en-US" sz="1100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0FD521A-A4F7-7348-DBB8-37532C3593CA}"/>
              </a:ext>
            </a:extLst>
          </p:cNvPr>
          <p:cNvSpPr/>
          <p:nvPr/>
        </p:nvSpPr>
        <p:spPr>
          <a:xfrm>
            <a:off x="8046720" y="4833257"/>
            <a:ext cx="1031966" cy="29119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564</Words>
  <Application>Microsoft Office PowerPoint</Application>
  <PresentationFormat>Экран (16:9)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Instrument Sans Light</vt:lpstr>
      <vt:lpstr>Instrument Sans Medium</vt:lpstr>
      <vt:lpstr>Instrument Sans SemiBold</vt:lpstr>
      <vt:lpstr>Instrument Sans Bold</vt:lpstr>
      <vt:lpstr>Consolas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s.john.bornt@gmail.com</cp:lastModifiedBy>
  <cp:revision>2</cp:revision>
  <dcterms:created xsi:type="dcterms:W3CDTF">2026-06-30T19:29:36Z</dcterms:created>
  <dcterms:modified xsi:type="dcterms:W3CDTF">2026-07-02T12:04:29Z</dcterms:modified>
</cp:coreProperties>
</file>