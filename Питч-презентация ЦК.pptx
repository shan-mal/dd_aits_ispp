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Barlow Bold" panose="020B0604020202020204" charset="0"/>
      <p:regular r:id="rId11"/>
    </p:embeddedFont>
    <p:embeddedFont>
      <p:font typeface="Montserrat" panose="00000500000000000000" pitchFamily="2" charset="-52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28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889843"/>
            <a:ext cx="4767114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Автоматизированная система управления парковкой на основе компьютерного зрения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2874690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Доступное, масштабируемое решение для автоматизации парковок — с использованием технологий компьютерного зрения и распределённых вычислений.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02943" y="3677096"/>
            <a:ext cx="1670670" cy="254422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6" name="Text 3"/>
          <p:cNvSpPr/>
          <p:nvPr/>
        </p:nvSpPr>
        <p:spPr>
          <a:xfrm>
            <a:off x="3984129" y="3717652"/>
            <a:ext cx="1965499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КОМПЬЮТЕРНОЕ ЗРЕНИЕ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41256" y="3677096"/>
            <a:ext cx="1852985" cy="254422"/>
          </a:xfrm>
          <a:prstGeom prst="roundRect">
            <a:avLst>
              <a:gd name="adj" fmla="val 63869"/>
            </a:avLst>
          </a:prstGeom>
          <a:noFill/>
          <a:ln/>
          <a:effectLst>
            <a:outerShdw blurRad="101600" dist="50800" dir="16200000" algn="bl" rotWithShape="0">
              <a:srgbClr val="75BAE6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22441" y="3717652"/>
            <a:ext cx="2147813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РАСПОЗНАВАНИЕ НОМЕРОВ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902943" y="3999161"/>
            <a:ext cx="1214065" cy="254422"/>
          </a:xfrm>
          <a:prstGeom prst="roundRect">
            <a:avLst>
              <a:gd name="adj" fmla="val 63869"/>
            </a:avLst>
          </a:prstGeom>
          <a:noFill/>
          <a:ln/>
          <a:effectLst>
            <a:outerShdw blurRad="101600" dist="50800" dir="16200000" algn="bl" rotWithShape="0">
              <a:srgbClr val="75BAE6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984129" y="4039716"/>
            <a:ext cx="1508894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</a:t>
            </a:r>
            <a:endParaRPr lang="en-US" sz="850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E4EFA9A-7EBF-060F-7695-ED1B37DC9573}"/>
              </a:ext>
            </a:extLst>
          </p:cNvPr>
          <p:cNvSpPr/>
          <p:nvPr/>
        </p:nvSpPr>
        <p:spPr>
          <a:xfrm>
            <a:off x="8053251" y="4820194"/>
            <a:ext cx="1090749" cy="32330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390897"/>
            <a:ext cx="4767114" cy="737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Проблема: парковки тормозят города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3902943" y="1267867"/>
            <a:ext cx="4767114" cy="801588"/>
          </a:xfrm>
          <a:prstGeom prst="roundRect">
            <a:avLst>
              <a:gd name="adj" fmla="val 20985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19773" y="1384697"/>
            <a:ext cx="1879774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30% городского трафика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19773" y="1624757"/>
            <a:ext cx="4533454" cy="32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Автомобили тратят время и топливо на поиск свободного места, создавая пробки.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02943" y="2162249"/>
            <a:ext cx="4767114" cy="801588"/>
          </a:xfrm>
          <a:prstGeom prst="roundRect">
            <a:avLst>
              <a:gd name="adj" fmla="val 20985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19773" y="2279079"/>
            <a:ext cx="1507703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Высокая стоимость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19773" y="2519139"/>
            <a:ext cx="4533454" cy="32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Существующие решения стоят от $10 000 и выше, что недоступно для малых и средних парковок.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02943" y="3056632"/>
            <a:ext cx="4767114" cy="801588"/>
          </a:xfrm>
          <a:prstGeom prst="roundRect">
            <a:avLst>
              <a:gd name="adj" fmla="val 20985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19773" y="3173462"/>
            <a:ext cx="1494830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Закрытые системы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19773" y="3413522"/>
            <a:ext cx="4533454" cy="32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Проприетарный код и сложная интеграция блокируют развитие и адаптацию под нужды клиента.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02943" y="3951015"/>
            <a:ext cx="4767114" cy="801588"/>
          </a:xfrm>
          <a:prstGeom prst="roundRect">
            <a:avLst>
              <a:gd name="adj" fmla="val 20985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19773" y="4067845"/>
            <a:ext cx="1720528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Человеческий фактор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19773" y="4307904"/>
            <a:ext cx="4533454" cy="32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Ошибки операторов и низкая скорость обслуживания снижают пропускную способность парковки.</a:t>
            </a:r>
            <a:endParaRPr lang="en-US" sz="85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4B2CCF8D-FC9F-6F25-10C4-BD0D017060B8}"/>
              </a:ext>
            </a:extLst>
          </p:cNvPr>
          <p:cNvSpPr/>
          <p:nvPr/>
        </p:nvSpPr>
        <p:spPr>
          <a:xfrm>
            <a:off x="8053251" y="4820194"/>
            <a:ext cx="1090749" cy="32330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3410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Наше решение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684833"/>
            <a:ext cx="4783857" cy="2488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3314" y="1468318"/>
            <a:ext cx="276120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автоматически распознаёт номера автомобилей, управляет шлагбаумами и формирует отчёты — без участия оператора.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318" y="4477978"/>
            <a:ext cx="101501" cy="1015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3911" y="3280799"/>
            <a:ext cx="1709655" cy="609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Распознавание за 1 секунду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93911" y="3585605"/>
            <a:ext cx="2483867" cy="9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Номер определяется в реальном времени при въезде и выезде.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5421" y="4477978"/>
            <a:ext cx="101501" cy="1015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3911" y="3843185"/>
            <a:ext cx="1099617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Полная автоматизация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93910" y="4082541"/>
            <a:ext cx="2483867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въездом, выездом, тарифами и уведомлениями.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1523" y="4477978"/>
            <a:ext cx="101501" cy="1015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3911" y="4291834"/>
            <a:ext cx="1312143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5–10 раз дешевле аналогов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93911" y="4477978"/>
            <a:ext cx="542448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Работает на стандартных веб-камерах — без специализированного оборудования.</a:t>
            </a:r>
            <a:endParaRPr lang="en-US" sz="10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5A98853-EF8E-2033-1531-8E81D8258349}"/>
              </a:ext>
            </a:extLst>
          </p:cNvPr>
          <p:cNvSpPr/>
          <p:nvPr/>
        </p:nvSpPr>
        <p:spPr>
          <a:xfrm>
            <a:off x="8053251" y="4820194"/>
            <a:ext cx="1090749" cy="32330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16459"/>
            <a:ext cx="4657725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Технологический стек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432694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Современный открытый стек обеспечивает скорость, надёжность и лёгкость развёртывания.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43" y="1801713"/>
            <a:ext cx="270793" cy="2707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224172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Python + FastAPI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3943" y="2545556"/>
            <a:ext cx="401344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Высокопроизводительный REST API с асинхронной архитектурой.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609" y="1801713"/>
            <a:ext cx="270793" cy="2707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6609" y="224172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OpenCV + EasyOCR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656609" y="2545556"/>
            <a:ext cx="401344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Распознавание номерных знаков с высокой точностью в любых условиях освещения.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943" y="3249737"/>
            <a:ext cx="270793" cy="2707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3943" y="368974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Celery + Redis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73943" y="3993579"/>
            <a:ext cx="401344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Асинхронная обработка задач и кэширование для высокой нагрузки.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56609" y="3249737"/>
            <a:ext cx="270793" cy="2707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56609" y="368974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Docker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656609" y="3993579"/>
            <a:ext cx="401344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Надёжное хранение данных и контейнеризация для быстрого развёртывания.</a:t>
            </a:r>
            <a:endParaRPr lang="en-US" sz="105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F03DB06F-1572-CC04-2365-C96E1F3540BF}"/>
              </a:ext>
            </a:extLst>
          </p:cNvPr>
          <p:cNvSpPr/>
          <p:nvPr/>
        </p:nvSpPr>
        <p:spPr>
          <a:xfrm>
            <a:off x="8053251" y="4820194"/>
            <a:ext cx="1090749" cy="32330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18802"/>
            <a:ext cx="5357589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Результаты тестирования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202680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92,7%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1316608" y="1818680"/>
            <a:ext cx="232804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Точность распознавания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3943" y="2122512"/>
            <a:ext cx="401344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Подтверждена на реальных данных с городских парковок.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56609" y="1202680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 сек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5772448" y="1818680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Время обработки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56609" y="2122512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захвата кадра до принятия решения о пропуске.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3943" y="2894335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100+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964778" y="3510335"/>
            <a:ext cx="303177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Одновременных пользователей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943" y="3814167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стабильно работает под высокой нагрузкой.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56609" y="2894335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×10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5772448" y="351033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Ниже стоимость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56609" y="3814167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сравнению с коммерческими аналогами на рынке.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3943" y="4183187"/>
            <a:ext cx="8196114" cy="541437"/>
          </a:xfrm>
          <a:prstGeom prst="roundRect">
            <a:avLst>
              <a:gd name="adj" fmla="val 37515"/>
            </a:avLst>
          </a:prstGeom>
          <a:solidFill>
            <a:srgbClr val="D4E9F7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02" y="4376738"/>
            <a:ext cx="169218" cy="1353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3879" y="4352330"/>
            <a:ext cx="807801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показатели получены в ходе реальных испытаний на действующих парковочных объектах.</a:t>
            </a:r>
            <a:endParaRPr lang="en-US" sz="1050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97E7CF86-02EC-A312-E29D-D15DE229BD43}"/>
              </a:ext>
            </a:extLst>
          </p:cNvPr>
          <p:cNvSpPr/>
          <p:nvPr/>
        </p:nvSpPr>
        <p:spPr>
          <a:xfrm>
            <a:off x="8053251" y="4820194"/>
            <a:ext cx="1090749" cy="32330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376982"/>
            <a:ext cx="3241179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Команда проекта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2" y="848916"/>
            <a:ext cx="4178452" cy="91745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93973" y="1272034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Боровикова Кристина</a:t>
            </a:r>
            <a:endParaRPr lang="en-US" sz="1050" dirty="0"/>
          </a:p>
        </p:txBody>
      </p:sp>
      <p:sp>
        <p:nvSpPr>
          <p:cNvPr id="7" name="Text 2"/>
          <p:cNvSpPr/>
          <p:nvPr/>
        </p:nvSpPr>
        <p:spPr>
          <a:xfrm>
            <a:off x="593973" y="1495574"/>
            <a:ext cx="4527054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Manager, архитектор системы</a:t>
            </a:r>
            <a:endParaRPr lang="en-US" sz="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1" y="1848966"/>
            <a:ext cx="4178453" cy="91745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93973" y="2272085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00" b="1" dirty="0">
              <a:latin typeface="Barlow Bold" panose="020B0604020202020204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593973" y="2495624"/>
            <a:ext cx="4527054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Backend-разработчик</a:t>
            </a:r>
            <a:endParaRPr lang="en-US" sz="8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2849017"/>
            <a:ext cx="4178453" cy="917451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593973" y="3272135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384653"/>
                </a:solidFill>
              </a:rPr>
              <a:t>Никитин Антон</a:t>
            </a:r>
            <a:endParaRPr lang="en-US" sz="1050" dirty="0"/>
          </a:p>
        </p:txBody>
      </p:sp>
      <p:sp>
        <p:nvSpPr>
          <p:cNvPr id="15" name="Text 6"/>
          <p:cNvSpPr/>
          <p:nvPr/>
        </p:nvSpPr>
        <p:spPr>
          <a:xfrm>
            <a:off x="593973" y="3495675"/>
            <a:ext cx="4527054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ML-инженер</a:t>
            </a:r>
            <a:endParaRPr lang="en-US" sz="8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3849067"/>
            <a:ext cx="4178453" cy="917451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593973" y="4272186"/>
            <a:ext cx="1600051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050" b="1" dirty="0" err="1">
                <a:solidFill>
                  <a:srgbClr val="384653"/>
                </a:solidFill>
              </a:rPr>
              <a:t>Стракшис</a:t>
            </a:r>
            <a:r>
              <a:rPr lang="ru-RU" sz="1050" b="1" dirty="0">
                <a:solidFill>
                  <a:srgbClr val="384653"/>
                </a:solidFill>
              </a:rPr>
              <a:t> </a:t>
            </a:r>
            <a:r>
              <a:rPr lang="ru-RU" sz="1050" b="1" dirty="0" err="1">
                <a:solidFill>
                  <a:srgbClr val="384653"/>
                </a:solidFill>
              </a:rPr>
              <a:t>Елмзавета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593973" y="4495726"/>
            <a:ext cx="4527054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ML-инженер</a:t>
            </a:r>
            <a:endParaRPr lang="en-US" sz="8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A60434BE-29C1-70C5-809A-3B54D91F5EE6}"/>
              </a:ext>
            </a:extLst>
          </p:cNvPr>
          <p:cNvSpPr/>
          <p:nvPr/>
        </p:nvSpPr>
        <p:spPr>
          <a:xfrm>
            <a:off x="8053251" y="4820194"/>
            <a:ext cx="1090749" cy="32330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D4C3FD07-8576-D614-F7F7-5A99BD9D8E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2395" y="848916"/>
            <a:ext cx="4420725" cy="917451"/>
          </a:xfrm>
          <a:prstGeom prst="rect">
            <a:avLst/>
          </a:prstGeom>
        </p:spPr>
      </p:pic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200427EF-84A8-9263-443E-6ED3769D6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2396" y="1848966"/>
            <a:ext cx="4372535" cy="917451"/>
          </a:xfrm>
          <a:prstGeom prst="rect">
            <a:avLst/>
          </a:prstGeom>
        </p:spPr>
      </p:pic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7131973A-4611-8067-08E7-E95D020CA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2396" y="2862040"/>
            <a:ext cx="4370359" cy="917451"/>
          </a:xfrm>
          <a:prstGeom prst="rect">
            <a:avLst/>
          </a:prstGeom>
        </p:spPr>
      </p:pic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780AFAC2-C4F3-7034-08C6-F67D60F82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2397" y="3862091"/>
            <a:ext cx="4389862" cy="917451"/>
          </a:xfrm>
          <a:prstGeom prst="rect">
            <a:avLst/>
          </a:prstGeom>
        </p:spPr>
      </p:pic>
      <p:sp>
        <p:nvSpPr>
          <p:cNvPr id="26" name="Text 1">
            <a:extLst>
              <a:ext uri="{FF2B5EF4-FFF2-40B4-BE49-F238E27FC236}">
                <a16:creationId xmlns:a16="http://schemas.microsoft.com/office/drawing/2014/main" id="{3A48B0FA-F446-5BEF-4C5C-25B04F5258D5}"/>
              </a:ext>
            </a:extLst>
          </p:cNvPr>
          <p:cNvSpPr/>
          <p:nvPr/>
        </p:nvSpPr>
        <p:spPr>
          <a:xfrm>
            <a:off x="593971" y="2253355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Савин Иван</a:t>
            </a:r>
            <a:endParaRPr lang="en-US" sz="105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02A07D44-2333-04E8-97B9-B01DD3C12A15}"/>
              </a:ext>
            </a:extLst>
          </p:cNvPr>
          <p:cNvSpPr/>
          <p:nvPr/>
        </p:nvSpPr>
        <p:spPr>
          <a:xfrm>
            <a:off x="4847552" y="1274219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Малин </a:t>
            </a:r>
            <a:r>
              <a:rPr lang="ru-RU" sz="105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Горослав</a:t>
            </a:r>
            <a:endParaRPr lang="en-US" sz="105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8C7D3EF4-10AB-E4B4-12F5-60C93A129F8E}"/>
              </a:ext>
            </a:extLst>
          </p:cNvPr>
          <p:cNvSpPr/>
          <p:nvPr/>
        </p:nvSpPr>
        <p:spPr>
          <a:xfrm>
            <a:off x="4847551" y="2234212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Янкина София</a:t>
            </a:r>
            <a:endParaRPr lang="en-US" sz="105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8ACD8404-727D-106F-1A55-02D53458F342}"/>
              </a:ext>
            </a:extLst>
          </p:cNvPr>
          <p:cNvSpPr/>
          <p:nvPr/>
        </p:nvSpPr>
        <p:spPr>
          <a:xfrm>
            <a:off x="4847555" y="3252702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384653"/>
                </a:solidFill>
              </a:rPr>
              <a:t>Денисов Александр</a:t>
            </a:r>
            <a:endParaRPr lang="en-US" sz="105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23E65CBD-859C-E51E-3A35-69AFE6073845}"/>
              </a:ext>
            </a:extLst>
          </p:cNvPr>
          <p:cNvSpPr/>
          <p:nvPr/>
        </p:nvSpPr>
        <p:spPr>
          <a:xfrm>
            <a:off x="4847555" y="4293096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384653"/>
                </a:solidFill>
              </a:rPr>
              <a:t>Хазов Максим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65398"/>
            <a:ext cx="5667301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Рынок и перспективы развития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214214"/>
            <a:ext cx="2063502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Целевая аудитория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3943" y="1525637"/>
            <a:ext cx="1924943" cy="450800"/>
          </a:xfrm>
          <a:prstGeom prst="roundRect">
            <a:avLst>
              <a:gd name="adj" fmla="val 3942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7173" y="1648867"/>
            <a:ext cx="1654969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🏬</a:t>
            </a: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Торговые центры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02545" y="1525637"/>
            <a:ext cx="1924943" cy="450800"/>
          </a:xfrm>
          <a:prstGeom prst="roundRect">
            <a:avLst>
              <a:gd name="adj" fmla="val 3942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25775" y="1648867"/>
            <a:ext cx="15589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Бизнес-центры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3943" y="2080096"/>
            <a:ext cx="3953545" cy="450800"/>
          </a:xfrm>
          <a:prstGeom prst="roundRect">
            <a:avLst>
              <a:gd name="adj" fmla="val 3942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7173" y="2203326"/>
            <a:ext cx="191266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🅿️</a:t>
            </a: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Городские паркинги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1275" y="1214214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Дорожная карта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90866" y="1525637"/>
            <a:ext cx="14288" cy="2935784"/>
          </a:xfrm>
          <a:prstGeom prst="roundRect">
            <a:avLst>
              <a:gd name="adj" fmla="val 1243916"/>
            </a:avLst>
          </a:prstGeom>
          <a:solidFill>
            <a:srgbClr val="BACFDD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3620" y="1651769"/>
            <a:ext cx="355402" cy="14288"/>
          </a:xfrm>
          <a:prstGeom prst="roundRect">
            <a:avLst>
              <a:gd name="adj" fmla="val 1243916"/>
            </a:avLst>
          </a:prstGeom>
          <a:solidFill>
            <a:srgbClr val="BACFDD"/>
          </a:solidFill>
          <a:ln/>
        </p:spPr>
      </p:sp>
      <p:sp>
        <p:nvSpPr>
          <p:cNvPr id="13" name="Shape 11"/>
          <p:cNvSpPr/>
          <p:nvPr/>
        </p:nvSpPr>
        <p:spPr>
          <a:xfrm>
            <a:off x="6564734" y="1525637"/>
            <a:ext cx="266551" cy="266551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4471" y="1542008"/>
            <a:ext cx="187077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21275" y="1566342"/>
            <a:ext cx="1384325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Мобильное приложение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1275" y="2059632"/>
            <a:ext cx="1384325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мест, бесконтактная оплата и уведомления для водителей.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6998" y="2333030"/>
            <a:ext cx="355402" cy="14288"/>
          </a:xfrm>
          <a:prstGeom prst="roundRect">
            <a:avLst>
              <a:gd name="adj" fmla="val 1243916"/>
            </a:avLst>
          </a:prstGeom>
          <a:solidFill>
            <a:srgbClr val="BACFDD"/>
          </a:solidFill>
          <a:ln/>
        </p:spPr>
      </p:sp>
      <p:sp>
        <p:nvSpPr>
          <p:cNvPr id="18" name="Shape 16"/>
          <p:cNvSpPr/>
          <p:nvPr/>
        </p:nvSpPr>
        <p:spPr>
          <a:xfrm>
            <a:off x="6564734" y="2206898"/>
            <a:ext cx="266551" cy="266551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4471" y="2223269"/>
            <a:ext cx="187077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290420" y="2247602"/>
            <a:ext cx="1384399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Интеграция с умным городом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90420" y="2740893"/>
            <a:ext cx="1384399" cy="88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Подключение к городским транспортным системам и светофорам.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23620" y="3147938"/>
            <a:ext cx="355402" cy="14288"/>
          </a:xfrm>
          <a:prstGeom prst="roundRect">
            <a:avLst>
              <a:gd name="adj" fmla="val 1243916"/>
            </a:avLst>
          </a:prstGeom>
          <a:solidFill>
            <a:srgbClr val="BACFDD"/>
          </a:solidFill>
          <a:ln/>
        </p:spPr>
      </p:sp>
      <p:sp>
        <p:nvSpPr>
          <p:cNvPr id="23" name="Shape 21"/>
          <p:cNvSpPr/>
          <p:nvPr/>
        </p:nvSpPr>
        <p:spPr>
          <a:xfrm>
            <a:off x="6564734" y="3021806"/>
            <a:ext cx="266551" cy="266551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4471" y="3038177"/>
            <a:ext cx="187077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721275" y="3062511"/>
            <a:ext cx="1384325" cy="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ML-прогнозирование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21275" y="3750618"/>
            <a:ext cx="1384325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Предсказание загруженности парковок на основе исторических данных.</a:t>
            </a:r>
            <a:endParaRPr lang="en-US" sz="900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631520FC-DA47-709B-8B68-9FFC423D4266}"/>
              </a:ext>
            </a:extLst>
          </p:cNvPr>
          <p:cNvSpPr/>
          <p:nvPr/>
        </p:nvSpPr>
        <p:spPr>
          <a:xfrm>
            <a:off x="8053251" y="4820194"/>
            <a:ext cx="1090749" cy="32330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935757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Свяжитесь с нами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1584275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Готовы обсудить внедрение системы на вашем объекте. Проведём демонстрацию и рассчитаем стоимость проекта.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2943" y="2169988"/>
            <a:ext cx="4767114" cy="11272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33552" y="2324398"/>
            <a:ext cx="261007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400" b="1" dirty="0">
                <a:solidFill>
                  <a:srgbClr val="384653"/>
                </a:solidFill>
              </a:rPr>
              <a:t>Боровикова Кристина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133552" y="2628230"/>
            <a:ext cx="4382095" cy="514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Manager, архитектор проекта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@kristina0987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902943" y="3449538"/>
            <a:ext cx="4767114" cy="758130"/>
          </a:xfrm>
          <a:prstGeom prst="roundRect">
            <a:avLst>
              <a:gd name="adj" fmla="val 26792"/>
            </a:avLst>
          </a:prstGeom>
          <a:solidFill>
            <a:srgbClr val="B6FCB8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302" y="3643089"/>
            <a:ext cx="169218" cy="1353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42879" y="3618681"/>
            <a:ext cx="419181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Спасибо за внимание! Будем рады ответить на ваши вопросы.</a:t>
            </a:r>
            <a:endParaRPr lang="en-US" sz="1050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BB2DAC6-04FF-786F-880E-51B0F8804847}"/>
              </a:ext>
            </a:extLst>
          </p:cNvPr>
          <p:cNvSpPr/>
          <p:nvPr/>
        </p:nvSpPr>
        <p:spPr>
          <a:xfrm>
            <a:off x="8053251" y="4820194"/>
            <a:ext cx="1090749" cy="32330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404</Words>
  <Application>Microsoft Office PowerPoint</Application>
  <PresentationFormat>Экран 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Twemoji Mozilla</vt:lpstr>
      <vt:lpstr>Arial</vt:lpstr>
      <vt:lpstr>Montserrat</vt:lpstr>
      <vt:lpstr>Barlow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s.john.bornt@gmail.com</cp:lastModifiedBy>
  <cp:revision>7</cp:revision>
  <dcterms:created xsi:type="dcterms:W3CDTF">2026-06-30T13:42:20Z</dcterms:created>
  <dcterms:modified xsi:type="dcterms:W3CDTF">2026-07-02T12:00:11Z</dcterms:modified>
</cp:coreProperties>
</file>